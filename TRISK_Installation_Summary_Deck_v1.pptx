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</a:t>
            </a:r>
          </a:p>
          <a:p/>
          <a:p>
            <a:r>
              <a:t>Introduce the purpose: we're here to walk through the installation requirements</a:t>
            </a:r>
          </a:p>
          <a:p>
            <a:r>
              <a:t>for TRISK Desktop before your IT team deploys it.</a:t>
            </a:r>
          </a:p>
          <a:p/>
          <a:p>
            <a:r>
              <a:t>Key framing: this is a self-hosted, air-gapped tool. No cloud, no telemetry,</a:t>
            </a:r>
          </a:p>
          <a:p>
            <a:r>
              <a:t>no data leaves your infrastructure. We designed it for exactly this kind of</a:t>
            </a:r>
          </a:p>
          <a:p>
            <a:r>
              <a:t>institutional deployment.</a:t>
            </a:r>
          </a:p>
          <a:p/>
          <a:p>
            <a:r>
              <a:t>The full 18-page Installation Guide has been provided separately. This deck</a:t>
            </a:r>
          </a:p>
          <a:p>
            <a:r>
              <a:t>is the 6-slide summary for your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TRISK DESKTOP</a:t>
            </a:r>
          </a:p>
          <a:p/>
          <a:p>
            <a:r>
              <a:t>Walk through the 8 key properties that matter for IT/InfoSec review:</a:t>
            </a:r>
          </a:p>
          <a:p/>
          <a:p>
            <a:r>
              <a:t>1. RUNTIME NETWORK: Zero outbound connections after installation. The Docker</a:t>
            </a:r>
          </a:p>
          <a:p>
            <a:r>
              <a:t>   network is set to internal:true — the container literally cannot reach</a:t>
            </a:r>
          </a:p>
          <a:p>
            <a:r>
              <a:t>   the internet. This is the single most important fact for your InfoSec team.</a:t>
            </a:r>
          </a:p>
          <a:p/>
          <a:p>
            <a:r>
              <a:t>2. DATA RESIDENCY: All portfolio data stays on the analyst's machine or your</a:t>
            </a:r>
          </a:p>
          <a:p>
            <a:r>
              <a:t>   internal server. No cloud endpoints, no analytics, no telemetry. The app</a:t>
            </a:r>
          </a:p>
          <a:p>
            <a:r>
              <a:t>   doesn't even resolve DNS at runtime.</a:t>
            </a:r>
          </a:p>
          <a:p/>
          <a:p>
            <a:r>
              <a:t>3. AUTHENTICATION: Ships with HTTP Basic Auth via the Caddy reverse proxy.</a:t>
            </a:r>
          </a:p>
          <a:p>
            <a:r>
              <a:t>   For production, you can swap this for your institutional SSO (Keycloak,</a:t>
            </a:r>
          </a:p>
          <a:p>
            <a:r>
              <a:t>   Azure AD, Okta) at the proxy layer — no application changes needed.</a:t>
            </a:r>
          </a:p>
          <a:p/>
          <a:p>
            <a:r>
              <a:t>4. ENCRYPTION: TLS termination at Caddy. You provide your institution's</a:t>
            </a:r>
          </a:p>
          <a:p>
            <a:r>
              <a:t>   certificates. HSTS enforced with 2-year max-age.</a:t>
            </a:r>
          </a:p>
          <a:p/>
          <a:p>
            <a:r>
              <a:t>5. CONTAINER: Runs as non-root user 'trisk', all Linux capabilities dropped,</a:t>
            </a:r>
          </a:p>
          <a:p>
            <a:r>
              <a:t>   read-only filesystem, custom seccomp profile blocking ptrace and key</a:t>
            </a:r>
          </a:p>
          <a:p>
            <a:r>
              <a:t>   management syscalls.</a:t>
            </a:r>
          </a:p>
          <a:p/>
          <a:p>
            <a:r>
              <a:t>6. PII: The application does not require any personally identifiable information.</a:t>
            </a:r>
          </a:p>
          <a:p>
            <a:r>
              <a:t>   Column allowlisting on upload strips any fields not in the approved schema.</a:t>
            </a:r>
          </a:p>
          <a:p/>
          <a:p>
            <a:r>
              <a:t>7. RUNTIME DEPENDENCIES: All fonts, JavaScript, CSS, and scenario data are</a:t>
            </a:r>
          </a:p>
          <a:p>
            <a:r>
              <a:t>   vendored inside the container. No CDN calls, no external resources.</a:t>
            </a:r>
          </a:p>
          <a:p/>
          <a:p>
            <a:r>
              <a:t>8. USE CASE: Credit risk teams use this for ICAAP climate stress test sections,</a:t>
            </a:r>
          </a:p>
          <a:p>
            <a:r>
              <a:t>   ILAAP scenario analysis, and board-level reporting on transition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PREREQUISITES &amp; APPROVALS</a:t>
            </a:r>
          </a:p>
          <a:p/>
          <a:p>
            <a:r>
              <a:t>Walk through the three pillars. This maps to Section 2 and Section 6 of the</a:t>
            </a:r>
          </a:p>
          <a:p>
            <a:r>
              <a:t>full Installation Guide.</a:t>
            </a:r>
          </a:p>
          <a:p/>
          <a:p>
            <a:r>
              <a:t>GOVERNANCE:</a:t>
            </a:r>
          </a:p>
          <a:p>
            <a:r>
              <a:t>- Standard change if Docker is already approved; normal change if first-time</a:t>
            </a:r>
          </a:p>
          <a:p>
            <a:r>
              <a:t>- InfoSec review: the key document is the Security Architecture (next slide)</a:t>
            </a:r>
          </a:p>
          <a:p>
            <a:r>
              <a:t>  plus the Dockerfile, seccomp profile, and docker-compose.yml</a:t>
            </a:r>
          </a:p>
          <a:p>
            <a:r>
              <a:t>- License review: trisk.model is GPL-3.0, trisk.analysis is LGPL-3.0. Both</a:t>
            </a:r>
          </a:p>
          <a:p>
            <a:r>
              <a:t>  are permissible for internal use without redistribution obligations since</a:t>
            </a:r>
          </a:p>
          <a:p>
            <a:r>
              <a:t>  the bank is not distributing the software externally.</a:t>
            </a:r>
          </a:p>
          <a:p/>
          <a:p>
            <a:r>
              <a:t>INFRASTRUCTURE:</a:t>
            </a:r>
          </a:p>
          <a:p>
            <a:r>
              <a:t>- Docker Desktop 24.0+ required (or Docker Engine on Linux servers)</a:t>
            </a:r>
          </a:p>
          <a:p>
            <a:r>
              <a:t>- 4 GB RAM is the container memory limit; recommend 16 GB total on machine</a:t>
            </a:r>
          </a:p>
          <a:p>
            <a:r>
              <a:t>- Port 443 for production (TLS via Caddy), 3838 for development/UAT</a:t>
            </a:r>
          </a:p>
          <a:p>
            <a:r>
              <a:t>- Windows 10 Pro/Enterprise, macOS 12+, Ubuntu 22.04+, RHEL 8+</a:t>
            </a:r>
          </a:p>
          <a:p/>
          <a:p>
            <a:r>
              <a:t>SECURITY:</a:t>
            </a:r>
          </a:p>
          <a:p>
            <a:r>
              <a:t>- TLS certs: request from your PKI team with CN=localhost and SAN including</a:t>
            </a:r>
          </a:p>
          <a:p>
            <a:r>
              <a:t>  127.0.0.1. Self-signed available for testing.</a:t>
            </a:r>
          </a:p>
          <a:p>
            <a:r>
              <a:t>- SIEM: Docker log driver can switch from json-file to syslog for forwarding</a:t>
            </a:r>
          </a:p>
          <a:p>
            <a:r>
              <a:t>- Scenario data: ~200MB CSV, SHA256 verified at build. Can be transferred</a:t>
            </a:r>
          </a:p>
          <a:p>
            <a:r>
              <a:t>  via approved media for air-gapped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ARCHITECTURE</a:t>
            </a:r>
          </a:p>
          <a:p/>
          <a:p>
            <a:r>
              <a:t>This is the slide your InfoSec team will spend the most time on.</a:t>
            </a:r>
          </a:p>
          <a:p/>
          <a:p>
            <a:r>
              <a:t>NETWORK DIAGRAM:</a:t>
            </a:r>
          </a:p>
          <a:p>
            <a:r>
              <a:t>- The analyst's browser connects to Caddy on localhost:443 via HTTPS</a:t>
            </a:r>
          </a:p>
          <a:p>
            <a:r>
              <a:t>- Caddy terminates TLS, handles authentication, applies security headers</a:t>
            </a:r>
          </a:p>
          <a:p>
            <a:r>
              <a:t>- Caddy forwards to the TRISK app on an internal Docker network (port 3838)</a:t>
            </a:r>
          </a:p>
          <a:p>
            <a:r>
              <a:t>- The internal Docker network has 'internal: true' — meaning the TRISK</a:t>
            </a:r>
          </a:p>
          <a:p>
            <a:r>
              <a:t>  container cannot make ANY outbound connections. It cannot reach the</a:t>
            </a:r>
          </a:p>
          <a:p>
            <a:r>
              <a:t>  internet, DNS, or any other network resource.</a:t>
            </a:r>
          </a:p>
          <a:p/>
          <a:p>
            <a:r>
              <a:t>CONTAINER HARDENING:</a:t>
            </a:r>
          </a:p>
          <a:p>
            <a:r>
              <a:t>- Non-root: runs as user 'trisk' with nologin shell</a:t>
            </a:r>
          </a:p>
          <a:p>
            <a:r>
              <a:t>- cap_drop ALL: no Linux capabilities granted whatsoever</a:t>
            </a:r>
          </a:p>
          <a:p>
            <a:r>
              <a:t>- Read-only filesystem: the container cannot write to its own image</a:t>
            </a:r>
          </a:p>
          <a:p>
            <a:r>
              <a:t>- Writable only: /tmp (tmpfs, 2GB, noexec) and /data/output (noexec, nosuid)</a:t>
            </a:r>
          </a:p>
          <a:p>
            <a:r>
              <a:t>- Custom seccomp profile: blocks ptrace, perf_event_open, keyctl, add_key,</a:t>
            </a:r>
          </a:p>
          <a:p>
            <a:r>
              <a:t>  request_key, personality, userfaultfd, process_vm_readv/writev</a:t>
            </a:r>
          </a:p>
          <a:p>
            <a:r>
              <a:t>- Memory: 4GB hard cap with 4GB swap cap to prevent OOM-swap spiral</a:t>
            </a:r>
          </a:p>
          <a:p>
            <a:r>
              <a:t>- PIDs: limited to 256 to prevent fork bombs</a:t>
            </a:r>
          </a:p>
          <a:p/>
          <a:p>
            <a:r>
              <a:t>SUPPLY CHAIN:</a:t>
            </a:r>
          </a:p>
          <a:p>
            <a:r>
              <a:t>- Base image: rocker/r-ver:4.4.1 pinned by SHA256 digest, not a floating tag</a:t>
            </a:r>
          </a:p>
          <a:p>
            <a:r>
              <a:t>- CRAN packages: locked to Posit PPM snapshot from 2025-02-01 — every build</a:t>
            </a:r>
          </a:p>
          <a:p>
            <a:r>
              <a:t>  gets identical package versions</a:t>
            </a:r>
          </a:p>
          <a:p>
            <a:r>
              <a:t>- GitHub packages: trisk.model and trisk.analysis pinned to exact Git commit</a:t>
            </a:r>
          </a:p>
          <a:p>
            <a:r>
              <a:t>  SHAs — no surprise updates</a:t>
            </a:r>
          </a:p>
          <a:p>
            <a:r>
              <a:t>- Scenario data: SHA256 checksum verified at build time, build fails on mismatch</a:t>
            </a:r>
          </a:p>
          <a:p/>
          <a:p>
            <a:r>
              <a:t>The full security documentation is in SECURITY.md in the repository.</a:t>
            </a:r>
          </a:p>
          <a:p>
            <a:r>
              <a:t>Your team can review the Dockerfile, docker-compose.yml, Caddyfile, and</a:t>
            </a:r>
          </a:p>
          <a:p>
            <a:r>
              <a:t>seccomp profile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 - 3 OPTIONS</a:t>
            </a:r>
          </a:p>
          <a:p/>
          <a:p>
            <a:r>
              <a:t>OPTION A — STANDARD DOCKER (most common):</a:t>
            </a:r>
          </a:p>
          <a:p>
            <a:r>
              <a:t>7-step process that takes about 15 minutes. Requires outbound HTTPS to three</a:t>
            </a:r>
          </a:p>
          <a:p>
            <a:r>
              <a:t>endpoints during build only: packagemanager.posit.co (CRAN packages),</a:t>
            </a:r>
          </a:p>
          <a:p>
            <a:r>
              <a:t>github.com (TRISK model packages), storage.googleapis.com (scenario data).</a:t>
            </a:r>
          </a:p>
          <a:p>
            <a:r>
              <a:t>After the build completes, the container never contacts the internet again.</a:t>
            </a:r>
          </a:p>
          <a:p/>
          <a:p>
            <a:r>
              <a:t>OPTION B — BANK ARTIFACTORY:</a:t>
            </a:r>
          </a:p>
          <a:p>
            <a:r>
              <a:t>For institutions using JFrog Artifactory, Sonatype Nexus, or similar internal</a:t>
            </a:r>
          </a:p>
          <a:p>
            <a:r>
              <a:t>registries. Two sub-options: either override the base image at build time to</a:t>
            </a:r>
          </a:p>
          <a:p>
            <a:r>
              <a:t>pull from your artifactory, or pull our pre-built image from ghcr.io, run your</a:t>
            </a:r>
          </a:p>
          <a:p>
            <a:r>
              <a:t>CVE scan, host it internally, and have analysts pull from there.</a:t>
            </a:r>
          </a:p>
          <a:p/>
          <a:p>
            <a:r>
              <a:t>OPTION C — AIR-GAPPED:</a:t>
            </a:r>
          </a:p>
          <a:p>
            <a:r>
              <a:t>For environments with zero internet access on the target machine. Build on a</a:t>
            </a:r>
          </a:p>
          <a:p>
            <a:r>
              <a:t>connected staging machine, export images with docker save, transfer via</a:t>
            </a:r>
          </a:p>
          <a:p>
            <a:r>
              <a:t>approved media (encrypted USB, SFTP, etc.), and docker load on the target.</a:t>
            </a:r>
          </a:p>
          <a:p>
            <a:r>
              <a:t>The full project directory also needs to be transferred for the configuration</a:t>
            </a:r>
          </a:p>
          <a:p>
            <a:r>
              <a:t>files, Caddyfile, and TLS certificate setup.</a:t>
            </a:r>
          </a:p>
          <a:p/>
          <a:p>
            <a:r>
              <a:t>BARE-METAL FALLBACK:</a:t>
            </a:r>
          </a:p>
          <a:p>
            <a:r>
              <a:t>If Docker is not approved at all in your environment, TRISK can run directly</a:t>
            </a:r>
          </a:p>
          <a:p>
            <a:r>
              <a:t>on R 4.4.1. This loses the container hardening (seccomp, capability drop,</a:t>
            </a:r>
          </a:p>
          <a:p>
            <a:r>
              <a:t>read-only fs) but the application itself still runs on localhost only with</a:t>
            </a:r>
          </a:p>
          <a:p>
            <a:r>
              <a:t>no outbound network. Additional endpoint security should be applied per</a:t>
            </a:r>
          </a:p>
          <a:p>
            <a:r>
              <a:t>your institutional policy. Full instructions in INSTALL.md.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POST-INSTALLATION &amp; OPERATIONS</a:t>
            </a:r>
          </a:p>
          <a:p/>
          <a:p>
            <a:r>
              <a:t>VERIFICATION (first day):</a:t>
            </a:r>
          </a:p>
          <a:p>
            <a:r>
              <a:t>- Functional: Load the demo dataset, configure a scenario, run the analysis,</a:t>
            </a:r>
          </a:p>
          <a:p>
            <a:r>
              <a:t>  verify charts render, test Excel/CSV export</a:t>
            </a:r>
          </a:p>
          <a:p>
            <a:r>
              <a:t>- Security: Run the 4 docker exec commands from the guide to verify:</a:t>
            </a:r>
          </a:p>
          <a:p>
            <a:r>
              <a:t>  1. wget fails (no outbound network)</a:t>
            </a:r>
          </a:p>
          <a:p>
            <a:r>
              <a:t>  2. whoami returns 'trisk' (non-root)</a:t>
            </a:r>
          </a:p>
          <a:p>
            <a:r>
              <a:t>  3. touch /test fails (read-only filesystem)</a:t>
            </a:r>
          </a:p>
          <a:p>
            <a:r>
              <a:t>  4. Seccomp shows filter mode (2)</a:t>
            </a:r>
          </a:p>
          <a:p>
            <a:r>
              <a:t>- Have the analyst and IT sign the verification table in Section 12</a:t>
            </a:r>
          </a:p>
          <a:p/>
          <a:p>
            <a:r>
              <a:t>SIEM INTEGRATION:</a:t>
            </a:r>
          </a:p>
          <a:p>
            <a:r>
              <a:t>- Replace the json-file logging driver in docker-compose.yml with syslog</a:t>
            </a:r>
          </a:p>
          <a:p>
            <a:r>
              <a:t>- Point to your institutional SIEM endpoint</a:t>
            </a:r>
          </a:p>
          <a:p>
            <a:r>
              <a:t>- Caddy access logs include authentication username and request details</a:t>
            </a:r>
          </a:p>
          <a:p>
            <a:r>
              <a:t>- Application logs are structured JSON covering uploads, analysis runs,</a:t>
            </a:r>
          </a:p>
          <a:p>
            <a:r>
              <a:t>  exports, and session lifecycle</a:t>
            </a:r>
          </a:p>
          <a:p/>
          <a:p>
            <a:r>
              <a:t>VULNERABILITY SCANNING:</a:t>
            </a:r>
          </a:p>
          <a:p>
            <a:r>
              <a:t>- Before deployment: run trivy or grype against the built image</a:t>
            </a:r>
          </a:p>
          <a:p>
            <a:r>
              <a:t>- Policy: remediate all HIGH and CRITICAL before production</a:t>
            </a:r>
          </a:p>
          <a:p>
            <a:r>
              <a:t>- Monthly: rebuild with --no-cache to pick up base image patches, then rescan</a:t>
            </a:r>
          </a:p>
          <a:p>
            <a:r>
              <a:t>- Generate SBOM with syft for regulatory compliance documentation</a:t>
            </a:r>
          </a:p>
          <a:p/>
          <a:p>
            <a:r>
              <a:t>MAINTENANCE:</a:t>
            </a:r>
          </a:p>
          <a:p>
            <a:r>
              <a:t>- The application is stateless — no database, no session storage</a:t>
            </a:r>
          </a:p>
          <a:p>
            <a:r>
              <a:t>- Only config files (.env, Caddyfile, TLS certs) and output data need backup</a:t>
            </a:r>
          </a:p>
          <a:p>
            <a:r>
              <a:t>- Recovery is a single command: docker compose up --build</a:t>
            </a:r>
          </a:p>
          <a:p>
            <a:r>
              <a:t>- Decommissioning is clean: docker compose down -v removes everything</a:t>
            </a:r>
          </a:p>
          <a:p>
            <a:r>
              <a:t>- Archive data/output/ per your data retention policy before decommission</a:t>
            </a:r>
          </a:p>
          <a:p/>
          <a:p>
            <a:r>
              <a:t>Next steps: share the full Installation Guide with your IT team, begin the</a:t>
            </a:r>
          </a:p>
          <a:p>
            <a:r>
              <a:t>approval process (Section 2), and schedule the installation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Arial"/>
              </a:defRPr>
            </a:pPr>
            <a:r>
              <a:t>TRISK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85D4E"/>
                </a:solidFill>
                <a:latin typeface="Arial"/>
              </a:defRPr>
            </a:pPr>
            <a:r>
              <a:t>Installation Requirements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566160"/>
            <a:ext cx="1828800" cy="3810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Prepared by 1in1000 for [Bank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Arial"/>
              </a:defRPr>
            </a:pPr>
            <a:r>
              <a:t>Climate Transition Risk Stress Testing  |  ICAAP / ILAAP  |  Board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Arial"/>
              </a:defRPr>
            </a:pPr>
            <a:r>
              <a:t>INTERNAL  -  For IT / Information Security / Risk Technology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What is TRISK Desktop?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Self-hosted climate risk stress testing. Zero runtime network. 100% on-premise.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ctr">
              <a:spcAft>
                <a:spcPts val="200"/>
              </a:spcAft>
              <a:defRPr sz="900" b="1">
                <a:solidFill>
                  <a:srgbClr val="666666"/>
                </a:solidFill>
                <a:latin typeface="Arial"/>
              </a:defRPr>
            </a:pPr>
            <a:r>
              <a:t>RUNTIME NETWORK</a:t>
            </a:r>
          </a:p>
          <a:p>
            <a:pPr>
              <a:defRPr sz="1100" b="0">
                <a:solidFill>
                  <a:srgbClr val="1A1A1A"/>
                </a:solidFill>
                <a:latin typeface="Arial"/>
              </a:defRPr>
            </a:pPr>
            <a:r>
              <a:t>None - fully</a:t>
            </a:r>
            <a:br/>
            <a:r>
              <a:t>air-gapped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ctr">
              <a:spcAft>
                <a:spcPts val="200"/>
              </a:spcAft>
              <a:defRPr sz="900" b="1">
                <a:solidFill>
                  <a:srgbClr val="666666"/>
                </a:solidFill>
                <a:latin typeface="Arial"/>
              </a:defRPr>
            </a:pPr>
            <a:r>
              <a:t>DATA RESIDENCY</a:t>
            </a:r>
          </a:p>
          <a:p>
            <a:pPr>
              <a:defRPr sz="1100" b="0">
                <a:solidFill>
                  <a:srgbClr val="1A1A1A"/>
                </a:solidFill>
                <a:latin typeface="Arial"/>
              </a:defRPr>
            </a:pPr>
            <a:r>
              <a:t>100% on-premise</a:t>
            </a:r>
            <a:br/>
            <a:r>
              <a:t>No cloud, no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ctr">
              <a:spcAft>
                <a:spcPts val="200"/>
              </a:spcAft>
              <a:defRPr sz="900" b="1">
                <a:solidFill>
                  <a:srgbClr val="666666"/>
                </a:solidFill>
                <a:latin typeface="Arial"/>
              </a:defRPr>
            </a:pPr>
            <a:r>
              <a:t>AUTHENTICATION</a:t>
            </a:r>
          </a:p>
          <a:p>
            <a:pPr>
              <a:defRPr sz="1100" b="0">
                <a:solidFill>
                  <a:srgbClr val="1A1A1A"/>
                </a:solidFill>
                <a:latin typeface="Arial"/>
              </a:defRPr>
            </a:pPr>
            <a:r>
              <a:t>HTTP Basic Auth</a:t>
            </a:r>
            <a:br/>
            <a:r>
              <a:t>or institutional SSO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7373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ctr">
              <a:spcAft>
                <a:spcPts val="200"/>
              </a:spcAft>
              <a:defRPr sz="900" b="1">
                <a:solidFill>
                  <a:srgbClr val="666666"/>
                </a:solidFill>
                <a:latin typeface="Arial"/>
              </a:defRPr>
            </a:pPr>
            <a:r>
              <a:t>ENCRYPTION</a:t>
            </a:r>
          </a:p>
          <a:p>
            <a:pPr>
              <a:defRPr sz="1100" b="0">
                <a:solidFill>
                  <a:srgbClr val="1A1A1A"/>
                </a:solidFill>
                <a:latin typeface="Arial"/>
              </a:defRPr>
            </a:pPr>
            <a:r>
              <a:t>TLS 1.2+ via</a:t>
            </a:r>
            <a:br/>
            <a:r>
              <a:t>Caddy reverse proxy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ctr">
              <a:spcAft>
                <a:spcPts val="200"/>
              </a:spcAft>
              <a:defRPr sz="900" b="1">
                <a:solidFill>
                  <a:srgbClr val="666666"/>
                </a:solidFill>
                <a:latin typeface="Arial"/>
              </a:defRPr>
            </a:pPr>
            <a:r>
              <a:t>CONTAINER</a:t>
            </a:r>
          </a:p>
          <a:p>
            <a:pPr>
              <a:defRPr sz="1100" b="0">
                <a:solidFill>
                  <a:srgbClr val="1A1A1A"/>
                </a:solidFill>
                <a:latin typeface="Arial"/>
              </a:defRPr>
            </a:pPr>
            <a:r>
              <a:t>Non-root, all caps</a:t>
            </a:r>
            <a:br/>
            <a:r>
              <a:t>dropped, seccomp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657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ctr">
              <a:spcAft>
                <a:spcPts val="200"/>
              </a:spcAft>
              <a:defRPr sz="900" b="1">
                <a:solidFill>
                  <a:srgbClr val="666666"/>
                </a:solidFill>
                <a:latin typeface="Arial"/>
              </a:defRPr>
            </a:pPr>
            <a:r>
              <a:t>PII REQUIRED</a:t>
            </a:r>
          </a:p>
          <a:p>
            <a:pPr>
              <a:defRPr sz="1100" b="0">
                <a:solidFill>
                  <a:srgbClr val="1A1A1A"/>
                </a:solidFill>
                <a:latin typeface="Arial"/>
              </a:defRPr>
            </a:pPr>
            <a:r>
              <a:t>None - column</a:t>
            </a:r>
            <a:br/>
            <a:r>
              <a:t>allowlisting on upload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ctr">
              <a:spcAft>
                <a:spcPts val="200"/>
              </a:spcAft>
              <a:defRPr sz="900" b="1">
                <a:solidFill>
                  <a:srgbClr val="666666"/>
                </a:solidFill>
                <a:latin typeface="Arial"/>
              </a:defRPr>
            </a:pPr>
            <a:r>
              <a:t>RUNTIME DEPS</a:t>
            </a:r>
          </a:p>
          <a:p>
            <a:pPr>
              <a:defRPr sz="1100" b="0">
                <a:solidFill>
                  <a:srgbClr val="1A1A1A"/>
                </a:solidFill>
                <a:latin typeface="Arial"/>
              </a:defRPr>
            </a:pPr>
            <a:r>
              <a:t>Zero external</a:t>
            </a:r>
            <a:br/>
            <a:r>
              <a:t>all assets vendored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657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ctr">
              <a:spcAft>
                <a:spcPts val="200"/>
              </a:spcAft>
              <a:defRPr sz="900" b="1">
                <a:solidFill>
                  <a:srgbClr val="666666"/>
                </a:solidFill>
                <a:latin typeface="Arial"/>
              </a:defRPr>
            </a:pPr>
            <a:r>
              <a:t>USE CASE</a:t>
            </a:r>
          </a:p>
          <a:p>
            <a:pPr>
              <a:defRPr sz="1100" b="0">
                <a:solidFill>
                  <a:srgbClr val="1A1A1A"/>
                </a:solidFill>
                <a:latin typeface="Arial"/>
              </a:defRPr>
            </a:pPr>
            <a:r>
              <a:t>ICAAP, ILAAP</a:t>
            </a:r>
            <a:br/>
            <a:r>
              <a:t>Board reporting</a:t>
            </a:r>
          </a:p>
        </p:txBody>
      </p:sp>
      <p:sp>
        <p:nvSpPr>
          <p:cNvPr id="13" name="Oval 12"/>
          <p:cNvSpPr/>
          <p:nvPr/>
        </p:nvSpPr>
        <p:spPr>
          <a:xfrm>
            <a:off x="2880360" y="1874520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Prerequisites &amp; Approvals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What your institution needs before we begin installation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5D4E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CAB / Change Request approved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CISO / InfoSec review complete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Architecture review (if shared infra)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License review (GPL-3.0 / LGPL-3.0)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Vendor due diligence on 1in1000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5D4E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Docker Desktop in software catalog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4 GB RAM allocated to Docker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2 CPU cores minimum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5 GB disk space free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Port 443 (prod) or 3838 (dev)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5D4E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TLS certificates from institution PKI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Auth credentials configured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SIEM log forwarding agreed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Vulnerability scan plan agreed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[ ]  Scenario data file obtained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Security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tIns="152400"/>
          <a:lstStyle/>
          <a:p>
            <a:pPr algn="ctr">
              <a:defRPr sz="1000" b="1">
                <a:solidFill>
                  <a:srgbClr val="666666"/>
                </a:solidFill>
                <a:latin typeface="Arial"/>
              </a:defRPr>
            </a:pPr>
            <a:r>
              <a:t>ANALYST BROWSER</a:t>
            </a:r>
          </a:p>
          <a:p>
            <a:pPr>
              <a:defRPr sz="1100">
                <a:solidFill>
                  <a:srgbClr val="333333"/>
                </a:solidFill>
                <a:latin typeface="Arial"/>
              </a:defRPr>
            </a:pPr>
            <a:r>
              <a:t>localhost only</a:t>
            </a:r>
            <a:br/>
            <a:r>
              <a:t>No LAN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9202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5D4E"/>
                </a:solidFill>
                <a:latin typeface="Arial"/>
              </a:defRPr>
            </a:pPr>
            <a:r>
              <a:t>HTTPS</a:t>
            </a:r>
            <a:br/>
            <a:r>
              <a:t>(443)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11880" y="2560320"/>
            <a:ext cx="914400" cy="274320"/>
          </a:xfrm>
          <a:prstGeom prst="rightArrow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5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tIns="152400"/>
          <a:lstStyle/>
          <a:p>
            <a:pPr algn="ctr">
              <a:defRPr sz="1000" b="1">
                <a:solidFill>
                  <a:srgbClr val="E85D4E"/>
                </a:solidFill>
                <a:latin typeface="Arial"/>
              </a:defRPr>
            </a:pPr>
            <a:r>
              <a:t>CADDY PROXY</a:t>
            </a:r>
          </a:p>
          <a:p>
            <a:pPr>
              <a:defRPr sz="1100">
                <a:solidFill>
                  <a:srgbClr val="333333"/>
                </a:solidFill>
                <a:latin typeface="Arial"/>
              </a:defRPr>
            </a:pPr>
            <a:r>
              <a:t>TLS termination</a:t>
            </a:r>
            <a:br/>
            <a:r>
              <a:t>Basic Auth / SSO</a:t>
            </a:r>
            <a:br/>
            <a:r>
              <a:t>Security headers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9202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Arial"/>
              </a:defRPr>
            </a:pPr>
            <a:r>
              <a:t>HTTP</a:t>
            </a:r>
            <a:br/>
            <a:r>
              <a:t>(3838)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543800" y="2560320"/>
            <a:ext cx="9144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0" y="13716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AF0EE"/>
          </a:solidFill>
          <a:ln w="12700">
            <a:solidFill>
              <a:srgbClr val="C94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tIns="152400"/>
          <a:lstStyle/>
          <a:p>
            <a:pPr algn="ctr">
              <a:defRPr sz="1000" b="1">
                <a:solidFill>
                  <a:srgbClr val="C94233"/>
                </a:solidFill>
                <a:latin typeface="Arial"/>
              </a:defRPr>
            </a:pPr>
            <a:r>
              <a:t>TRISK APP</a:t>
            </a:r>
          </a:p>
          <a:p>
            <a:pPr>
              <a:defRPr sz="1100">
                <a:solidFill>
                  <a:srgbClr val="333333"/>
                </a:solidFill>
                <a:latin typeface="Arial"/>
              </a:defRPr>
            </a:pPr>
            <a:r>
              <a:t>Internal network</a:t>
            </a:r>
            <a:br/>
            <a:r>
              <a:t>No internet access</a:t>
            </a:r>
            <a:br/>
            <a:r>
              <a:t>Read-only filesystem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5D4E"/>
                </a:solidFill>
                <a:latin typeface="Arial"/>
              </a:defRPr>
            </a:pPr>
            <a:r>
              <a:t>CONTAINER HARDENING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Non-root user (trisk)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cap_drop: ALL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no-new-privileges: true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Read-only root filesystem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Custom seccomp profile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PID limit: 256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84048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977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5D4E"/>
                </a:solidFill>
                <a:latin typeface="Arial"/>
              </a:defRPr>
            </a:pPr>
            <a:r>
              <a:t>SUPPLY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343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Base image pinned by SHA256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CRAN packages: date-locked snapshot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GitHub packages: exact commit SHAs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Scenario data: SHA256 verified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All fonts vendored locally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No CDN calls at runtime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84048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977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5D4E"/>
                </a:solidFill>
                <a:latin typeface="Arial"/>
              </a:defRPr>
            </a:pPr>
            <a:r>
              <a:t>SECURITY HEADERS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343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X-Frame-Options: DENY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X-Content-Type-Options: nosniff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HSTS: 2-year max-age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Referrer-Policy: no-referrer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Camera/mic/geo/payment: blocked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Server header: removed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Installation  -  3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Choose based on your network policy. All produce identical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5D4E"/>
                </a:solidFill>
                <a:latin typeface="Arial"/>
              </a:defRPr>
            </a:pPr>
            <a: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Arial"/>
              </a:defRPr>
            </a:pPr>
            <a:r>
              <a:t>Standard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Internet available at build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1. git clone the repository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2. Download scenario data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3. Configure .env file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4. Generate auth password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5. Place TLS certificates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6. docker compose up --build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7. Verify at https://localhost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291840" cy="73152"/>
          </a:xfrm>
          <a:prstGeom prst="rect">
            <a:avLst/>
          </a:prstGeom>
          <a:solidFill>
            <a:srgbClr val="4A7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7FA5"/>
                </a:solidFill>
                <a:latin typeface="Arial"/>
              </a:defRPr>
            </a:pPr>
            <a:r>
              <a:t>OPTION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Arial"/>
              </a:defRPr>
            </a:pPr>
            <a:r>
              <a:t>Bank Artifactory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Internal registry, pre-scanned 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Override BASE_IMAGE in .env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Point to your artifactory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Or pull pre-built image from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  ghcr.io, scan, and re-host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docker compose up -d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No internet needed on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1645920"/>
            <a:ext cx="3291840" cy="73152"/>
          </a:xfrm>
          <a:prstGeom prst="rect">
            <a:avLst/>
          </a:prstGeom>
          <a:solidFill>
            <a:srgbClr val="5C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74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C6B73"/>
                </a:solidFill>
                <a:latin typeface="Arial"/>
              </a:defRPr>
            </a:pPr>
            <a:r>
              <a:t>OPTION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Arial"/>
              </a:defRPr>
            </a:pPr>
            <a:r>
              <a:t>Air-Gapped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Zero network on target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Build on staging machine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docker save | gzip images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Transfer via approved media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docker load on target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Configure .env + TLS certs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docker compose up -d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Arial"/>
              </a:defRPr>
            </a:pPr>
            <a:r>
              <a:t>Fallback: Bare-metal R installation available if Docker is not approved. See INSTALL.md.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ial"/>
              </a:defRPr>
            </a:pPr>
            <a:r>
              <a:t>Post-Installation &amp;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120640" cy="54864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5D4E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Functional: Load demo data, run analysis, export results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Security: No outbound network, non-root, read-only fs, seccomp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Sign-off table provided in Installation Guide (Section 12)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8872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120640" cy="54864"/>
          </a:xfrm>
          <a:prstGeom prst="rect">
            <a:avLst/>
          </a:prstGeom>
          <a:solidFill>
            <a:srgbClr val="4A7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7FA5"/>
                </a:solidFill>
                <a:latin typeface="Arial"/>
              </a:defRPr>
            </a:pPr>
            <a:r>
              <a:t>SIEM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Switch Docker log driver from json-file to syslog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Forward to your SIEM at tcp://siem.bank.com:514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Audit events: uploads, analysis runs, exports, sessions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749040"/>
            <a:ext cx="5120640" cy="54864"/>
          </a:xfrm>
          <a:prstGeom prst="rect">
            <a:avLst/>
          </a:prstGeom>
          <a:solidFill>
            <a:srgbClr val="5C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6B73"/>
                </a:solidFill>
                <a:latin typeface="Arial"/>
              </a:defRPr>
            </a:pPr>
            <a:r>
              <a:t>VULNERABILITY SCANNING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434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Pre-deployment: trivy image scan, remediate HIGH/CRITICAL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Ongoing: monthly rebuild + scan for new CVEs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SBOM generation: syft or trivy in SPDX-JSON format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74904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749040"/>
            <a:ext cx="512064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Arial"/>
              </a:defRPr>
            </a:pPr>
            <a:r>
              <a:t>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3434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Backup: .env + tls/ + data/output/ only (stateless app)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Recovery: restore config, docker compose up --build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Decommission: docker compose down -v, remove directory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Arial"/>
              </a:defRPr>
            </a:pPr>
            <a:r>
              <a:t>Full Installation Guide: TRISK_Desktop_Installation_Guide_v1.pdf  |  For support: contact your 1in1000 engagement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